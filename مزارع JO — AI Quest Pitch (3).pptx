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a farm in Jordan means making three big decisions: which crops to plant on the land you have, how to work within your water and budget, and where to sell. A good harvest alone does not guarantee a profitable season, because these choices affect each other. Today they are often made separately. Our intended users are farm owners and managers. We are not claiming every farm faces the same conditions; we are describing a decision problem we want to help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stages. Farm inputs: land, water, budget, candidate crops, goals. The AI agent understands the request and coordinates. The data and calculation stage evaluates options using structured information, constraints, and explicit assumptions. Recommendations present a clear plan with trade-offs. Our principle: recommendations are grounded in inputs, calculations, and stated assumptions. Be honest about which parts are working, which use illustrative data, and which are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feature areas. Crop planning: evaluate crop options and land allocation. Resource allocation: consider available water and budget. Cost and revenue estimation: estimate costs and potential revenue when adequate data is available. Market comparison: compare selling opportunities in Amman and Irbid. Say clearly if any of these is partial or planned. We will show the working ones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we aim to help farm owners evaluate connected decisions and make more informed resource and business plans. User experience: simple and accessible, with Arabic support where appropriate, and recommendations that show their assumptions. Feasibility and scale: first validate agricultural data and crop assumptions, test with real farm owners, measure how reliable and useful the recommendations are, then expand based on evidence. These are goals we still need to validate; we have no pilots, partners, or measured gains to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go next: more verified data, deeper water engineering, and drone-collected data as a possible future input. These are plans, not features of the current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Stay on this slide during the live demo (about 3 minutes). Show only what actually works, and use the demo to prove the claims made in slides 2 to 6. Label any illustrative data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812781"/>
            <a:ext cx="10566346" cy="447026"/>
          </a:xfrm>
          <a:prstGeom prst="rect">
            <a:avLst/>
          </a:prstGeom>
          <a:noFill/>
          <a:ln/>
        </p:spPr>
        <p:txBody>
          <a:bodyPr wrap="square" lIns="0" tIns="0" rIns="0" bIns="0" rtlCol="0" anchor="t"/>
          <a:lstStyle>
            <a:lvl1pPr algn="l" indent="0" marL="0">
              <a:lnSpc>
                <a:spcPct val="115000"/>
              </a:lnSpc>
              <a:buNone/>
              <a:defRPr lang="en-US" sz="3200" dirty="0">
                <a:solidFill>
                  <a:srgbClr val="12261D"/>
                </a:solidFill>
                <a:latin typeface="Inter" pitchFamily="34" charset="0"/>
                <a:ea typeface="Inter" pitchFamily="34" charset="-122"/>
                <a:cs typeface="Inte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82" y="1564607"/>
            <a:ext cx="10566418" cy="4480593"/>
          </a:xfrm>
          <a:prstGeom prst="rect">
            <a:avLst/>
          </a:prstGeom>
          <a:noFill/>
          <a:ln/>
        </p:spPr>
        <p:txBody>
          <a:bodyPr wrap="square" lIns="0" tIns="0" rIns="0" bIns="0" rtlCol="0" anchor="t"/>
          <a:lstStyle>
            <a:lvl1pPr algn="l" indent="0" marL="0">
              <a:lnSpc>
                <a:spcPct val="140000"/>
              </a:lnSpc>
              <a:buNone/>
              <a:defRPr lang="en-US" sz="1600" dirty="0">
                <a:solidFill>
                  <a:srgbClr val="1226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812781"/>
            <a:ext cx="10566346" cy="447026"/>
          </a:xfrm>
          <a:prstGeom prst="rect">
            <a:avLst/>
          </a:prstGeom>
          <a:noFill/>
          <a:ln/>
        </p:spPr>
        <p:txBody>
          <a:bodyPr wrap="square" lIns="0" tIns="0" rIns="0" bIns="0" rtlCol="0" anchor="t"/>
          <a:lstStyle>
            <a:lvl1pPr algn="l" indent="0" marL="0">
              <a:lnSpc>
                <a:spcPct val="115000"/>
              </a:lnSpc>
              <a:buNone/>
              <a:defRPr lang="en-US" sz="3200" dirty="0">
                <a:solidFill>
                  <a:srgbClr val="12261D"/>
                </a:solidFill>
                <a:latin typeface="Inter" pitchFamily="34" charset="0"/>
                <a:ea typeface="Inter" pitchFamily="34" charset="-122"/>
                <a:cs typeface="Inte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82" y="1564607"/>
            <a:ext cx="10566418" cy="4480593"/>
          </a:xfrm>
          <a:prstGeom prst="rect">
            <a:avLst/>
          </a:prstGeom>
          <a:noFill/>
          <a:ln/>
        </p:spPr>
        <p:txBody>
          <a:bodyPr wrap="square" lIns="0" tIns="0" rIns="0" bIns="0" rtlCol="0" anchor="t"/>
          <a:lstStyle>
            <a:lvl1pPr algn="l" indent="0" marL="0">
              <a:lnSpc>
                <a:spcPct val="140000"/>
              </a:lnSpc>
              <a:buNone/>
              <a:defRPr lang="en-US" sz="1600" dirty="0">
                <a:solidFill>
                  <a:srgbClr val="1226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1"/>
        </a:solidFill>
      </p:bgPr>
    </p:bg>
    <p:spTree>
      <p:nvGrpSpPr>
        <p:cNvPr id="1" name=""/>
        <p:cNvGrpSpPr/>
        <p:nvPr/>
      </p:nvGrpSpPr>
      <p:grpSpPr>
        <a:xfrm>
          <a:off x="0" y="0"/>
          <a:ext cx="0" cy="0"/>
          <a:chOff x="0" y="0"/>
          <a:chExt cx="0" cy="0"/>
        </a:xfrm>
      </p:grpSpPr>
      <p:pic>
        <p:nvPicPr>
          <p:cNvPr id="2" name="Image 0" descr="مزارع JO logo">    </p:cNvPr>
          <p:cNvPicPr>
            <a:picLocks noChangeAspect="1"/>
          </p:cNvPicPr>
          <p:nvPr/>
        </p:nvPicPr>
        <p:blipFill>
          <a:blip r:embed="rId1"/>
          <a:srcRect l="-5000" r="-5000" t="0" b="0"/>
          <a:stretch/>
        </p:blipFill>
        <p:spPr>
          <a:xfrm>
            <a:off x="4699000" y="1076072"/>
            <a:ext cx="2794000" cy="2540000"/>
          </a:xfrm>
          <a:prstGeom prst="rect">
            <a:avLst/>
          </a:prstGeom>
        </p:spPr>
      </p:pic>
      <p:sp>
        <p:nvSpPr>
          <p:cNvPr id="3" name="Text 0"/>
          <p:cNvSpPr/>
          <p:nvPr>
            <p:ph type="title"/>
          </p:nvPr>
        </p:nvSpPr>
        <p:spPr>
          <a:xfrm>
            <a:off x="3556000" y="3616072"/>
            <a:ext cx="5232400" cy="1295400"/>
          </a:xfrm>
          <a:prstGeom prst="rect">
            <a:avLst/>
          </a:prstGeom>
          <a:noFill/>
          <a:ln/>
        </p:spPr>
        <p:txBody>
          <a:bodyPr wrap="square" lIns="0" tIns="0" rIns="0" bIns="0" rtlCol="0" anchor="t">
            <a:normAutofit/>
          </a:bodyPr>
          <a:lstStyle/>
          <a:p>
            <a:pPr algn="l" indent="0" marL="0">
              <a:lnSpc>
                <a:spcPts val="10000"/>
              </a:lnSpc>
              <a:buNone/>
            </a:pPr>
            <a:r>
              <a:rPr lang="en-US" sz="10000" b="1" i="0" spc="200" kern="0" dirty="0">
                <a:solidFill>
                  <a:srgbClr val="1C6B4E"/>
                </a:solidFill>
                <a:latin typeface="Inter" pitchFamily="34" charset="0"/>
                <a:ea typeface="Inter" pitchFamily="34" charset="-122"/>
                <a:cs typeface="Inter" pitchFamily="34" charset="-120"/>
              </a:rPr>
              <a:t>JO</a:t>
            </a:r>
            <a:r>
              <a:rPr lang="en-US" sz="10000" b="1" i="0" spc="200" kern="0" dirty="0">
                <a:solidFill>
                  <a:srgbClr val="141413"/>
                </a:solidFill>
                <a:latin typeface="Inter" pitchFamily="34" charset="0"/>
                <a:ea typeface="Inter" pitchFamily="34" charset="-122"/>
                <a:cs typeface="Inter" pitchFamily="34" charset="-120"/>
              </a:rPr>
              <a:t> </a:t>
            </a:r>
            <a:r>
              <a:rPr lang="en-US" sz="10000" b="1" i="0" spc="200" kern="0" dirty="0">
                <a:solidFill>
                  <a:srgbClr val="0B3D2A"/>
                </a:solidFill>
                <a:latin typeface="Inter" pitchFamily="34" charset="0"/>
                <a:ea typeface="Inter" pitchFamily="34" charset="-122"/>
                <a:cs typeface="Inter" pitchFamily="34" charset="-120"/>
              </a:rPr>
              <a:t>مزارع</a:t>
            </a:r>
            <a:endParaRPr lang="en-US" sz="10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1"/>
        </a:solidFill>
      </p:bgPr>
    </p:bg>
    <p:spTree>
      <p:nvGrpSpPr>
        <p:cNvPr id="1" name=""/>
        <p:cNvGrpSpPr/>
        <p:nvPr/>
      </p:nvGrpSpPr>
      <p:grpSpPr>
        <a:xfrm>
          <a:off x="0" y="0"/>
          <a:ext cx="0" cy="0"/>
          <a:chOff x="0" y="0"/>
          <a:chExt cx="0" cy="0"/>
        </a:xfrm>
      </p:grpSpPr>
      <p:sp>
        <p:nvSpPr>
          <p:cNvPr id="2" name="Text 0"/>
          <p:cNvSpPr/>
          <p:nvPr>
            <p:ph type="title"/>
          </p:nvPr>
        </p:nvSpPr>
        <p:spPr>
          <a:xfrm>
            <a:off x="812782" y="812781"/>
            <a:ext cx="10883336" cy="91945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1D"/>
                </a:solidFill>
                <a:latin typeface="Inter" pitchFamily="34" charset="0"/>
                <a:ea typeface="Inter" pitchFamily="34" charset="-122"/>
                <a:cs typeface="Inter" pitchFamily="34" charset="-120"/>
              </a:rPr>
              <a:t>A GOOD HARVEST DOESN’T GUARANTEE A PROFITABLE SEASON.</a:t>
            </a:r>
            <a:endParaRPr lang="en-US" sz="3200" dirty="0"/>
          </a:p>
        </p:txBody>
      </p:sp>
      <p:sp>
        <p:nvSpPr>
          <p:cNvPr id="3" name="Shape 1"/>
          <p:cNvSpPr/>
          <p:nvPr/>
        </p:nvSpPr>
        <p:spPr>
          <a:xfrm>
            <a:off x="815957" y="2543175"/>
            <a:ext cx="3041650" cy="1898650"/>
          </a:xfrm>
          <a:prstGeom prst="roundRect">
            <a:avLst>
              <a:gd name="adj" fmla="val 6522"/>
            </a:avLst>
          </a:prstGeom>
          <a:solidFill>
            <a:srgbClr val="FBFCFA"/>
          </a:solidFill>
          <a:ln w="6350">
            <a:solidFill>
              <a:srgbClr val="D5DED7"/>
            </a:solidFill>
            <a:prstDash val="solid"/>
          </a:ln>
        </p:spPr>
      </p:sp>
      <p:sp>
        <p:nvSpPr>
          <p:cNvPr id="4" name="Text 2"/>
          <p:cNvSpPr/>
          <p:nvPr/>
        </p:nvSpPr>
        <p:spPr>
          <a:xfrm>
            <a:off x="1072555" y="2799773"/>
            <a:ext cx="2604308" cy="288239"/>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0B3D2A"/>
                </a:solidFill>
                <a:latin typeface="Inter" pitchFamily="34" charset="0"/>
                <a:ea typeface="Inter" pitchFamily="34" charset="-122"/>
                <a:cs typeface="Inter" pitchFamily="34" charset="-120"/>
              </a:rPr>
              <a:t>CROP SELECTION</a:t>
            </a:r>
            <a:endParaRPr lang="en-US" sz="1800" dirty="0"/>
          </a:p>
        </p:txBody>
      </p:sp>
      <p:sp>
        <p:nvSpPr>
          <p:cNvPr id="5" name="Text 3"/>
          <p:cNvSpPr/>
          <p:nvPr/>
        </p:nvSpPr>
        <p:spPr>
          <a:xfrm>
            <a:off x="1072555" y="3164176"/>
            <a:ext cx="2604308" cy="50525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E6358"/>
                </a:solidFill>
                <a:latin typeface="Inter" pitchFamily="34" charset="0"/>
                <a:ea typeface="Inter" pitchFamily="34" charset="-122"/>
                <a:cs typeface="Inter" pitchFamily="34" charset="-120"/>
              </a:rPr>
              <a:t>Choosing crops and allocating available land.</a:t>
            </a:r>
            <a:endParaRPr lang="en-US" sz="1400" dirty="0"/>
          </a:p>
        </p:txBody>
      </p:sp>
      <p:sp>
        <p:nvSpPr>
          <p:cNvPr id="6" name="Shape 4"/>
          <p:cNvSpPr/>
          <p:nvPr/>
        </p:nvSpPr>
        <p:spPr>
          <a:xfrm>
            <a:off x="4575175" y="2543175"/>
            <a:ext cx="3041650" cy="1898650"/>
          </a:xfrm>
          <a:prstGeom prst="roundRect">
            <a:avLst>
              <a:gd name="adj" fmla="val 6522"/>
            </a:avLst>
          </a:prstGeom>
          <a:solidFill>
            <a:srgbClr val="FBFCFA"/>
          </a:solidFill>
          <a:ln w="6350">
            <a:solidFill>
              <a:srgbClr val="D5DED7"/>
            </a:solidFill>
            <a:prstDash val="solid"/>
          </a:ln>
        </p:spPr>
      </p:sp>
      <p:sp>
        <p:nvSpPr>
          <p:cNvPr id="7" name="Text 5"/>
          <p:cNvSpPr/>
          <p:nvPr/>
        </p:nvSpPr>
        <p:spPr>
          <a:xfrm>
            <a:off x="4831773" y="2799773"/>
            <a:ext cx="2604308" cy="551079"/>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0B3D2A"/>
                </a:solidFill>
                <a:latin typeface="Inter" pitchFamily="34" charset="0"/>
                <a:ea typeface="Inter" pitchFamily="34" charset="-122"/>
                <a:cs typeface="Inter" pitchFamily="34" charset="-120"/>
              </a:rPr>
              <a:t>RESOURCE CONSTRAINTS</a:t>
            </a:r>
            <a:endParaRPr lang="en-US" sz="1800" dirty="0"/>
          </a:p>
        </p:txBody>
      </p:sp>
      <p:sp>
        <p:nvSpPr>
          <p:cNvPr id="8" name="Text 6"/>
          <p:cNvSpPr/>
          <p:nvPr/>
        </p:nvSpPr>
        <p:spPr>
          <a:xfrm>
            <a:off x="4831773" y="3427016"/>
            <a:ext cx="2604308" cy="74518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E6358"/>
                </a:solidFill>
                <a:latin typeface="Inter" pitchFamily="34" charset="0"/>
                <a:ea typeface="Inter" pitchFamily="34" charset="-122"/>
                <a:cs typeface="Inter" pitchFamily="34" charset="-120"/>
              </a:rPr>
              <a:t>Working within water availability and budget limitations.</a:t>
            </a:r>
            <a:endParaRPr lang="en-US" sz="1400" dirty="0"/>
          </a:p>
        </p:txBody>
      </p:sp>
      <p:sp>
        <p:nvSpPr>
          <p:cNvPr id="9" name="Shape 7"/>
          <p:cNvSpPr/>
          <p:nvPr/>
        </p:nvSpPr>
        <p:spPr>
          <a:xfrm>
            <a:off x="8334303" y="2543175"/>
            <a:ext cx="3041650" cy="1898650"/>
          </a:xfrm>
          <a:prstGeom prst="roundRect">
            <a:avLst>
              <a:gd name="adj" fmla="val 6522"/>
            </a:avLst>
          </a:prstGeom>
          <a:solidFill>
            <a:srgbClr val="FBFCFA"/>
          </a:solidFill>
          <a:ln w="6350">
            <a:solidFill>
              <a:srgbClr val="D5DED7"/>
            </a:solidFill>
            <a:prstDash val="solid"/>
          </a:ln>
        </p:spPr>
      </p:sp>
      <p:sp>
        <p:nvSpPr>
          <p:cNvPr id="10" name="Text 8"/>
          <p:cNvSpPr/>
          <p:nvPr/>
        </p:nvSpPr>
        <p:spPr>
          <a:xfrm>
            <a:off x="8590900" y="2799773"/>
            <a:ext cx="2604308" cy="288239"/>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0B3D2A"/>
                </a:solidFill>
                <a:latin typeface="Inter" pitchFamily="34" charset="0"/>
                <a:ea typeface="Inter" pitchFamily="34" charset="-122"/>
                <a:cs typeface="Inter" pitchFamily="34" charset="-120"/>
              </a:rPr>
              <a:t>MARKET DECISIONS</a:t>
            </a:r>
            <a:endParaRPr lang="en-US" sz="1800" dirty="0"/>
          </a:p>
        </p:txBody>
      </p:sp>
      <p:sp>
        <p:nvSpPr>
          <p:cNvPr id="11" name="Text 9"/>
          <p:cNvSpPr/>
          <p:nvPr/>
        </p:nvSpPr>
        <p:spPr>
          <a:xfrm>
            <a:off x="8590900" y="3164176"/>
            <a:ext cx="2604308" cy="50525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E6358"/>
                </a:solidFill>
                <a:latin typeface="Inter" pitchFamily="34" charset="0"/>
                <a:ea typeface="Inter" pitchFamily="34" charset="-122"/>
                <a:cs typeface="Inter" pitchFamily="34" charset="-120"/>
              </a:rPr>
              <a:t>Evaluating where and how to sell the harvest.</a:t>
            </a:r>
            <a:endParaRPr lang="en-US" sz="1400" dirty="0"/>
          </a:p>
        </p:txBody>
      </p:sp>
      <p:sp>
        <p:nvSpPr>
          <p:cNvPr id="12" name="Text 10"/>
          <p:cNvSpPr/>
          <p:nvPr/>
        </p:nvSpPr>
        <p:spPr>
          <a:xfrm>
            <a:off x="812782" y="5016499"/>
            <a:ext cx="10883336" cy="41659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B3D2A"/>
                </a:solidFill>
                <a:latin typeface="Inter" pitchFamily="34" charset="0"/>
                <a:ea typeface="Inter" pitchFamily="34" charset="-122"/>
                <a:cs typeface="Inter" pitchFamily="34" charset="-120"/>
              </a:rPr>
              <a:t>Farm decisions are connected, but often made separately.</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1"/>
        </a:solidFill>
      </p:bgPr>
    </p:bg>
    <p:spTree>
      <p:nvGrpSpPr>
        <p:cNvPr id="1" name=""/>
        <p:cNvGrpSpPr/>
        <p:nvPr/>
      </p:nvGrpSpPr>
      <p:grpSpPr>
        <a:xfrm>
          <a:off x="0" y="0"/>
          <a:ext cx="0" cy="0"/>
          <a:chOff x="0" y="0"/>
          <a:chExt cx="0" cy="0"/>
        </a:xfrm>
      </p:grpSpPr>
      <p:sp>
        <p:nvSpPr>
          <p:cNvPr id="2" name="Text 0"/>
          <p:cNvSpPr/>
          <p:nvPr>
            <p:ph type="title"/>
          </p:nvPr>
        </p:nvSpPr>
        <p:spPr>
          <a:xfrm>
            <a:off x="812782" y="812781"/>
            <a:ext cx="10883336"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1D"/>
                </a:solidFill>
                <a:latin typeface="Inter" pitchFamily="34" charset="0"/>
                <a:ea typeface="Inter" pitchFamily="34" charset="-122"/>
                <a:cs typeface="Inter" pitchFamily="34" charset="-120"/>
              </a:rPr>
              <a:t>AI POWERED. DATA GUIDED.</a:t>
            </a:r>
            <a:endParaRPr lang="en-US" sz="3200" dirty="0"/>
          </a:p>
        </p:txBody>
      </p:sp>
      <p:sp>
        <p:nvSpPr>
          <p:cNvPr id="3" name="Shape 1"/>
          <p:cNvSpPr/>
          <p:nvPr/>
        </p:nvSpPr>
        <p:spPr>
          <a:xfrm>
            <a:off x="815957" y="1527175"/>
            <a:ext cx="10559996" cy="692150"/>
          </a:xfrm>
          <a:prstGeom prst="roundRect">
            <a:avLst>
              <a:gd name="adj" fmla="val 17890"/>
            </a:avLst>
          </a:prstGeom>
          <a:solidFill>
            <a:srgbClr val="FBFCFA"/>
          </a:solidFill>
          <a:ln w="6350">
            <a:solidFill>
              <a:srgbClr val="D5DED7"/>
            </a:solidFill>
            <a:prstDash val="solid"/>
          </a:ln>
        </p:spPr>
      </p:sp>
      <p:sp>
        <p:nvSpPr>
          <p:cNvPr id="4" name="Text 2"/>
          <p:cNvSpPr/>
          <p:nvPr/>
        </p:nvSpPr>
        <p:spPr>
          <a:xfrm>
            <a:off x="1072555" y="1736147"/>
            <a:ext cx="3662680" cy="29960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3D2A"/>
                </a:solidFill>
                <a:latin typeface="Inter" pitchFamily="34" charset="0"/>
                <a:ea typeface="Inter" pitchFamily="34" charset="-122"/>
                <a:cs typeface="Inter" pitchFamily="34" charset="-120"/>
              </a:rPr>
              <a:t>FARM INPUTS</a:t>
            </a:r>
            <a:endParaRPr lang="en-US" sz="1800" dirty="0"/>
          </a:p>
        </p:txBody>
      </p:sp>
      <p:sp>
        <p:nvSpPr>
          <p:cNvPr id="5" name="Text 3"/>
          <p:cNvSpPr/>
          <p:nvPr/>
        </p:nvSpPr>
        <p:spPr>
          <a:xfrm>
            <a:off x="4882555" y="1748775"/>
            <a:ext cx="6278880"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6358"/>
                </a:solidFill>
                <a:latin typeface="Inter" pitchFamily="34" charset="0"/>
                <a:ea typeface="Inter" pitchFamily="34" charset="-122"/>
                <a:cs typeface="Inter" pitchFamily="34" charset="-120"/>
              </a:rPr>
              <a:t>Land, water, budget, candidate crops, and user goals.</a:t>
            </a:r>
            <a:endParaRPr lang="en-US" sz="1400" dirty="0"/>
          </a:p>
        </p:txBody>
      </p:sp>
      <p:pic>
        <p:nvPicPr>
          <p:cNvPr id="6" name="Image 0" descr="arrow-down">    </p:cNvPr>
          <p:cNvPicPr>
            <a:picLocks noChangeAspect="1"/>
          </p:cNvPicPr>
          <p:nvPr/>
        </p:nvPicPr>
        <p:blipFill>
          <a:blip r:embed="rId1"/>
          <a:srcRect l="0" r="0" t="-3" b="-3"/>
          <a:stretch/>
        </p:blipFill>
        <p:spPr>
          <a:xfrm>
            <a:off x="5892782" y="2247846"/>
            <a:ext cx="228564" cy="177782"/>
          </a:xfrm>
          <a:prstGeom prst="rect">
            <a:avLst/>
          </a:prstGeom>
        </p:spPr>
      </p:pic>
      <p:sp>
        <p:nvSpPr>
          <p:cNvPr id="7" name="Shape 4"/>
          <p:cNvSpPr/>
          <p:nvPr/>
        </p:nvSpPr>
        <p:spPr>
          <a:xfrm>
            <a:off x="815957" y="2479675"/>
            <a:ext cx="10559996" cy="692150"/>
          </a:xfrm>
          <a:prstGeom prst="roundRect">
            <a:avLst>
              <a:gd name="adj" fmla="val 17890"/>
            </a:avLst>
          </a:prstGeom>
          <a:solidFill>
            <a:srgbClr val="FBFCFA"/>
          </a:solidFill>
          <a:ln w="6350">
            <a:solidFill>
              <a:srgbClr val="D5DED7"/>
            </a:solidFill>
            <a:prstDash val="solid"/>
          </a:ln>
        </p:spPr>
      </p:sp>
      <p:sp>
        <p:nvSpPr>
          <p:cNvPr id="8" name="Text 5"/>
          <p:cNvSpPr/>
          <p:nvPr/>
        </p:nvSpPr>
        <p:spPr>
          <a:xfrm>
            <a:off x="1072555" y="2688647"/>
            <a:ext cx="3662680" cy="29960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3D2A"/>
                </a:solidFill>
                <a:latin typeface="Inter" pitchFamily="34" charset="0"/>
                <a:ea typeface="Inter" pitchFamily="34" charset="-122"/>
                <a:cs typeface="Inter" pitchFamily="34" charset="-120"/>
              </a:rPr>
              <a:t>AI AGENT</a:t>
            </a:r>
            <a:endParaRPr lang="en-US" sz="1800" dirty="0"/>
          </a:p>
        </p:txBody>
      </p:sp>
      <p:sp>
        <p:nvSpPr>
          <p:cNvPr id="9" name="Text 6"/>
          <p:cNvSpPr/>
          <p:nvPr/>
        </p:nvSpPr>
        <p:spPr>
          <a:xfrm>
            <a:off x="4882555" y="2701275"/>
            <a:ext cx="6278880"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6358"/>
                </a:solidFill>
                <a:latin typeface="Inter" pitchFamily="34" charset="0"/>
                <a:ea typeface="Inter" pitchFamily="34" charset="-122"/>
                <a:cs typeface="Inter" pitchFamily="34" charset="-120"/>
              </a:rPr>
              <a:t>Understands the request and coordinates the decision process.</a:t>
            </a:r>
            <a:endParaRPr lang="en-US" sz="1400" dirty="0"/>
          </a:p>
        </p:txBody>
      </p:sp>
      <p:pic>
        <p:nvPicPr>
          <p:cNvPr id="10" name="Image 1" descr="arrow-down">    </p:cNvPr>
          <p:cNvPicPr>
            <a:picLocks noChangeAspect="1"/>
          </p:cNvPicPr>
          <p:nvPr/>
        </p:nvPicPr>
        <p:blipFill>
          <a:blip r:embed="rId2"/>
          <a:srcRect l="0" r="0" t="-3" b="-3"/>
          <a:stretch/>
        </p:blipFill>
        <p:spPr>
          <a:xfrm>
            <a:off x="5892782" y="3175000"/>
            <a:ext cx="228564" cy="177782"/>
          </a:xfrm>
          <a:prstGeom prst="rect">
            <a:avLst/>
          </a:prstGeom>
        </p:spPr>
      </p:pic>
      <p:sp>
        <p:nvSpPr>
          <p:cNvPr id="11" name="Shape 7"/>
          <p:cNvSpPr/>
          <p:nvPr/>
        </p:nvSpPr>
        <p:spPr>
          <a:xfrm>
            <a:off x="815957" y="3432175"/>
            <a:ext cx="10559996" cy="692150"/>
          </a:xfrm>
          <a:prstGeom prst="roundRect">
            <a:avLst>
              <a:gd name="adj" fmla="val 17890"/>
            </a:avLst>
          </a:prstGeom>
          <a:solidFill>
            <a:srgbClr val="FBFCFA"/>
          </a:solidFill>
          <a:ln w="6350">
            <a:solidFill>
              <a:srgbClr val="D5DED7"/>
            </a:solidFill>
            <a:prstDash val="solid"/>
          </a:ln>
        </p:spPr>
      </p:sp>
      <p:sp>
        <p:nvSpPr>
          <p:cNvPr id="12" name="Text 8"/>
          <p:cNvSpPr/>
          <p:nvPr/>
        </p:nvSpPr>
        <p:spPr>
          <a:xfrm>
            <a:off x="1072555" y="3641147"/>
            <a:ext cx="3662680" cy="29960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3D2A"/>
                </a:solidFill>
                <a:latin typeface="Inter" pitchFamily="34" charset="0"/>
                <a:ea typeface="Inter" pitchFamily="34" charset="-122"/>
                <a:cs typeface="Inter" pitchFamily="34" charset="-120"/>
              </a:rPr>
              <a:t>DATA &amp; CALCULATIONS</a:t>
            </a:r>
            <a:endParaRPr lang="en-US" sz="1800" dirty="0"/>
          </a:p>
        </p:txBody>
      </p:sp>
      <p:sp>
        <p:nvSpPr>
          <p:cNvPr id="13" name="Text 9"/>
          <p:cNvSpPr/>
          <p:nvPr/>
        </p:nvSpPr>
        <p:spPr>
          <a:xfrm>
            <a:off x="4882555" y="3529391"/>
            <a:ext cx="6278880" cy="52311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6358"/>
                </a:solidFill>
                <a:latin typeface="Inter" pitchFamily="34" charset="0"/>
                <a:ea typeface="Inter" pitchFamily="34" charset="-122"/>
                <a:cs typeface="Inter" pitchFamily="34" charset="-120"/>
              </a:rPr>
              <a:t>Evaluates options using structured information, constraints, and explicit assumptions.</a:t>
            </a:r>
            <a:endParaRPr lang="en-US" sz="1400" dirty="0"/>
          </a:p>
        </p:txBody>
      </p:sp>
      <p:pic>
        <p:nvPicPr>
          <p:cNvPr id="14" name="Image 2" descr="arrow-down">    </p:cNvPr>
          <p:cNvPicPr>
            <a:picLocks noChangeAspect="1"/>
          </p:cNvPicPr>
          <p:nvPr/>
        </p:nvPicPr>
        <p:blipFill>
          <a:blip r:embed="rId3"/>
          <a:srcRect l="0" r="0" t="-3" b="-3"/>
          <a:stretch/>
        </p:blipFill>
        <p:spPr>
          <a:xfrm>
            <a:off x="5892782" y="4152846"/>
            <a:ext cx="228564" cy="177782"/>
          </a:xfrm>
          <a:prstGeom prst="rect">
            <a:avLst/>
          </a:prstGeom>
        </p:spPr>
      </p:pic>
      <p:sp>
        <p:nvSpPr>
          <p:cNvPr id="15" name="Shape 10"/>
          <p:cNvSpPr/>
          <p:nvPr/>
        </p:nvSpPr>
        <p:spPr>
          <a:xfrm>
            <a:off x="815957" y="4384675"/>
            <a:ext cx="10559996" cy="692150"/>
          </a:xfrm>
          <a:prstGeom prst="roundRect">
            <a:avLst>
              <a:gd name="adj" fmla="val 17890"/>
            </a:avLst>
          </a:prstGeom>
          <a:solidFill>
            <a:srgbClr val="FBFCFA"/>
          </a:solidFill>
          <a:ln w="6350">
            <a:solidFill>
              <a:srgbClr val="D5DED7"/>
            </a:solidFill>
            <a:prstDash val="solid"/>
          </a:ln>
        </p:spPr>
      </p:sp>
      <p:sp>
        <p:nvSpPr>
          <p:cNvPr id="16" name="Text 11"/>
          <p:cNvSpPr/>
          <p:nvPr/>
        </p:nvSpPr>
        <p:spPr>
          <a:xfrm>
            <a:off x="1072555" y="4593647"/>
            <a:ext cx="3662680" cy="29960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3D2A"/>
                </a:solidFill>
                <a:latin typeface="Inter" pitchFamily="34" charset="0"/>
                <a:ea typeface="Inter" pitchFamily="34" charset="-122"/>
                <a:cs typeface="Inter" pitchFamily="34" charset="-120"/>
              </a:rPr>
              <a:t>RECOMMENDATIONS</a:t>
            </a:r>
            <a:endParaRPr lang="en-US" sz="1800" dirty="0"/>
          </a:p>
        </p:txBody>
      </p:sp>
      <p:sp>
        <p:nvSpPr>
          <p:cNvPr id="17" name="Text 12"/>
          <p:cNvSpPr/>
          <p:nvPr/>
        </p:nvSpPr>
        <p:spPr>
          <a:xfrm>
            <a:off x="4882555" y="4606275"/>
            <a:ext cx="6278880"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6358"/>
                </a:solidFill>
                <a:latin typeface="Inter" pitchFamily="34" charset="0"/>
                <a:ea typeface="Inter" pitchFamily="34" charset="-122"/>
                <a:cs typeface="Inter" pitchFamily="34" charset="-120"/>
              </a:rPr>
              <a:t>Presents a clear plan and explains its relevant trade-offs.</a:t>
            </a:r>
            <a:endParaRPr lang="en-US" sz="1400" dirty="0"/>
          </a:p>
        </p:txBody>
      </p:sp>
      <p:sp>
        <p:nvSpPr>
          <p:cNvPr id="18" name="Text 13"/>
          <p:cNvSpPr/>
          <p:nvPr/>
        </p:nvSpPr>
        <p:spPr>
          <a:xfrm>
            <a:off x="812782" y="5397500"/>
            <a:ext cx="10883336" cy="30988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3D2A"/>
                </a:solidFill>
                <a:latin typeface="Inter" pitchFamily="34" charset="0"/>
                <a:ea typeface="Inter" pitchFamily="34" charset="-122"/>
                <a:cs typeface="Inter" pitchFamily="34" charset="-120"/>
              </a:rPr>
              <a:t>Recommendations should be grounded in inputs, calculations, and stated assumptions.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3D2A"/>
        </a:solidFill>
      </p:bgPr>
    </p:bg>
    <p:spTree>
      <p:nvGrpSpPr>
        <p:cNvPr id="1" name=""/>
        <p:cNvGrpSpPr/>
        <p:nvPr/>
      </p:nvGrpSpPr>
      <p:grpSpPr>
        <a:xfrm>
          <a:off x="0" y="0"/>
          <a:ext cx="0" cy="0"/>
          <a:chOff x="0" y="0"/>
          <a:chExt cx="0" cy="0"/>
        </a:xfrm>
      </p:grpSpPr>
      <p:sp>
        <p:nvSpPr>
          <p:cNvPr id="2" name="Text 0"/>
          <p:cNvSpPr/>
          <p:nvPr>
            <p:ph type="title"/>
          </p:nvPr>
        </p:nvSpPr>
        <p:spPr>
          <a:xfrm>
            <a:off x="812782" y="812781"/>
            <a:ext cx="10883336"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AF3EE"/>
                </a:solidFill>
                <a:latin typeface="Inter" pitchFamily="34" charset="0"/>
                <a:ea typeface="Inter" pitchFamily="34" charset="-122"/>
                <a:cs typeface="Inter" pitchFamily="34" charset="-120"/>
              </a:rPr>
              <a:t>ONE FARM. CONNECTED DECISIONS.</a:t>
            </a:r>
            <a:endParaRPr lang="en-US" sz="3200" dirty="0"/>
          </a:p>
        </p:txBody>
      </p:sp>
      <p:sp>
        <p:nvSpPr>
          <p:cNvPr id="3" name="Shape 1"/>
          <p:cNvSpPr/>
          <p:nvPr/>
        </p:nvSpPr>
        <p:spPr>
          <a:xfrm>
            <a:off x="815957" y="2098673"/>
            <a:ext cx="5175214" cy="1390650"/>
          </a:xfrm>
          <a:prstGeom prst="roundRect">
            <a:avLst>
              <a:gd name="adj" fmla="val 8904"/>
            </a:avLst>
          </a:prstGeom>
          <a:solidFill>
            <a:srgbClr val="12513A"/>
          </a:solidFill>
          <a:ln w="6350">
            <a:solidFill>
              <a:srgbClr val="D5DED7"/>
            </a:solidFill>
            <a:prstDash val="solid"/>
          </a:ln>
        </p:spPr>
      </p:sp>
      <p:sp>
        <p:nvSpPr>
          <p:cNvPr id="4" name="Text 2"/>
          <p:cNvSpPr/>
          <p:nvPr/>
        </p:nvSpPr>
        <p:spPr>
          <a:xfrm>
            <a:off x="1072555" y="2355272"/>
            <a:ext cx="4801879" cy="288239"/>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7FD6B0"/>
                </a:solidFill>
                <a:latin typeface="Inter" pitchFamily="34" charset="0"/>
                <a:ea typeface="Inter" pitchFamily="34" charset="-122"/>
                <a:cs typeface="Inter" pitchFamily="34" charset="-120"/>
              </a:rPr>
              <a:t>CROP PLANNING</a:t>
            </a:r>
            <a:endParaRPr lang="en-US" sz="1800" dirty="0"/>
          </a:p>
        </p:txBody>
      </p:sp>
      <p:sp>
        <p:nvSpPr>
          <p:cNvPr id="5" name="Text 3"/>
          <p:cNvSpPr/>
          <p:nvPr/>
        </p:nvSpPr>
        <p:spPr>
          <a:xfrm>
            <a:off x="1072555" y="2719676"/>
            <a:ext cx="4801879" cy="265329"/>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AF3EE"/>
                </a:solidFill>
                <a:latin typeface="Inter" pitchFamily="34" charset="0"/>
                <a:ea typeface="Inter" pitchFamily="34" charset="-122"/>
                <a:cs typeface="Inter" pitchFamily="34" charset="-120"/>
              </a:rPr>
              <a:t>Evaluate crop options and land allocation.</a:t>
            </a:r>
            <a:endParaRPr lang="en-US" sz="1400" dirty="0"/>
          </a:p>
        </p:txBody>
      </p:sp>
      <p:sp>
        <p:nvSpPr>
          <p:cNvPr id="6" name="Shape 4"/>
          <p:cNvSpPr/>
          <p:nvPr/>
        </p:nvSpPr>
        <p:spPr>
          <a:xfrm>
            <a:off x="6200739" y="2098673"/>
            <a:ext cx="5175214" cy="1390650"/>
          </a:xfrm>
          <a:prstGeom prst="roundRect">
            <a:avLst>
              <a:gd name="adj" fmla="val 8904"/>
            </a:avLst>
          </a:prstGeom>
          <a:solidFill>
            <a:srgbClr val="12513A"/>
          </a:solidFill>
          <a:ln w="6350">
            <a:solidFill>
              <a:srgbClr val="D5DED7"/>
            </a:solidFill>
            <a:prstDash val="solid"/>
          </a:ln>
        </p:spPr>
      </p:sp>
      <p:sp>
        <p:nvSpPr>
          <p:cNvPr id="7" name="Text 5"/>
          <p:cNvSpPr/>
          <p:nvPr/>
        </p:nvSpPr>
        <p:spPr>
          <a:xfrm>
            <a:off x="6457336" y="2355272"/>
            <a:ext cx="4801879" cy="288239"/>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7FD6B0"/>
                </a:solidFill>
                <a:latin typeface="Inter" pitchFamily="34" charset="0"/>
                <a:ea typeface="Inter" pitchFamily="34" charset="-122"/>
                <a:cs typeface="Inter" pitchFamily="34" charset="-120"/>
              </a:rPr>
              <a:t>RESOURCE ALLOCATION</a:t>
            </a:r>
            <a:endParaRPr lang="en-US" sz="1800" dirty="0"/>
          </a:p>
        </p:txBody>
      </p:sp>
      <p:sp>
        <p:nvSpPr>
          <p:cNvPr id="8" name="Text 6"/>
          <p:cNvSpPr/>
          <p:nvPr/>
        </p:nvSpPr>
        <p:spPr>
          <a:xfrm>
            <a:off x="6457336" y="2719676"/>
            <a:ext cx="4801879" cy="265329"/>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AF3EE"/>
                </a:solidFill>
                <a:latin typeface="Inter" pitchFamily="34" charset="0"/>
                <a:ea typeface="Inter" pitchFamily="34" charset="-122"/>
                <a:cs typeface="Inter" pitchFamily="34" charset="-120"/>
              </a:rPr>
              <a:t>Consider available water and budget.</a:t>
            </a:r>
            <a:endParaRPr lang="en-US" sz="1400" dirty="0"/>
          </a:p>
        </p:txBody>
      </p:sp>
      <p:sp>
        <p:nvSpPr>
          <p:cNvPr id="9" name="Shape 7"/>
          <p:cNvSpPr/>
          <p:nvPr/>
        </p:nvSpPr>
        <p:spPr>
          <a:xfrm>
            <a:off x="815957" y="3698802"/>
            <a:ext cx="5175214" cy="1390650"/>
          </a:xfrm>
          <a:prstGeom prst="roundRect">
            <a:avLst>
              <a:gd name="adj" fmla="val 8904"/>
            </a:avLst>
          </a:prstGeom>
          <a:solidFill>
            <a:srgbClr val="12513A"/>
          </a:solidFill>
          <a:ln w="6350">
            <a:solidFill>
              <a:srgbClr val="D5DED7"/>
            </a:solidFill>
            <a:prstDash val="solid"/>
          </a:ln>
        </p:spPr>
      </p:sp>
      <p:sp>
        <p:nvSpPr>
          <p:cNvPr id="10" name="Text 8"/>
          <p:cNvSpPr/>
          <p:nvPr/>
        </p:nvSpPr>
        <p:spPr>
          <a:xfrm>
            <a:off x="1072555" y="3955400"/>
            <a:ext cx="4801879" cy="288239"/>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7FD6B0"/>
                </a:solidFill>
                <a:latin typeface="Inter" pitchFamily="34" charset="0"/>
                <a:ea typeface="Inter" pitchFamily="34" charset="-122"/>
                <a:cs typeface="Inter" pitchFamily="34" charset="-120"/>
              </a:rPr>
              <a:t>COST &amp; REVENUE ESTIMATION</a:t>
            </a:r>
            <a:endParaRPr lang="en-US" sz="1800" dirty="0"/>
          </a:p>
        </p:txBody>
      </p:sp>
      <p:sp>
        <p:nvSpPr>
          <p:cNvPr id="11" name="Text 9"/>
          <p:cNvSpPr/>
          <p:nvPr/>
        </p:nvSpPr>
        <p:spPr>
          <a:xfrm>
            <a:off x="1072555" y="4319803"/>
            <a:ext cx="4801879" cy="50525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AF3EE"/>
                </a:solidFill>
                <a:latin typeface="Inter" pitchFamily="34" charset="0"/>
                <a:ea typeface="Inter" pitchFamily="34" charset="-122"/>
                <a:cs typeface="Inter" pitchFamily="34" charset="-120"/>
              </a:rPr>
              <a:t>Estimate costs and potential revenue when adequate data is available.</a:t>
            </a:r>
            <a:endParaRPr lang="en-US" sz="1400" dirty="0"/>
          </a:p>
        </p:txBody>
      </p:sp>
      <p:sp>
        <p:nvSpPr>
          <p:cNvPr id="12" name="Shape 10"/>
          <p:cNvSpPr/>
          <p:nvPr/>
        </p:nvSpPr>
        <p:spPr>
          <a:xfrm>
            <a:off x="6200739" y="3698802"/>
            <a:ext cx="5175214" cy="1390650"/>
          </a:xfrm>
          <a:prstGeom prst="roundRect">
            <a:avLst>
              <a:gd name="adj" fmla="val 8904"/>
            </a:avLst>
          </a:prstGeom>
          <a:solidFill>
            <a:srgbClr val="12513A"/>
          </a:solidFill>
          <a:ln w="6350">
            <a:solidFill>
              <a:srgbClr val="D5DED7"/>
            </a:solidFill>
            <a:prstDash val="solid"/>
          </a:ln>
        </p:spPr>
      </p:sp>
      <p:sp>
        <p:nvSpPr>
          <p:cNvPr id="13" name="Text 11"/>
          <p:cNvSpPr/>
          <p:nvPr/>
        </p:nvSpPr>
        <p:spPr>
          <a:xfrm>
            <a:off x="6457336" y="3955400"/>
            <a:ext cx="4801879" cy="288239"/>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7FD6B0"/>
                </a:solidFill>
                <a:latin typeface="Inter" pitchFamily="34" charset="0"/>
                <a:ea typeface="Inter" pitchFamily="34" charset="-122"/>
                <a:cs typeface="Inter" pitchFamily="34" charset="-120"/>
              </a:rPr>
              <a:t>MARKET COMPARISON</a:t>
            </a:r>
            <a:endParaRPr lang="en-US" sz="1800" dirty="0"/>
          </a:p>
        </p:txBody>
      </p:sp>
      <p:sp>
        <p:nvSpPr>
          <p:cNvPr id="14" name="Text 12"/>
          <p:cNvSpPr/>
          <p:nvPr/>
        </p:nvSpPr>
        <p:spPr>
          <a:xfrm>
            <a:off x="6457336" y="4319803"/>
            <a:ext cx="4801879" cy="265329"/>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AF3EE"/>
                </a:solidFill>
                <a:latin typeface="Inter" pitchFamily="34" charset="0"/>
                <a:ea typeface="Inter" pitchFamily="34" charset="-122"/>
                <a:cs typeface="Inter" pitchFamily="34" charset="-120"/>
              </a:rPr>
              <a:t>Compare selling opportunities in Amman and Irbid.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1"/>
        </a:solidFill>
      </p:bgPr>
    </p:bg>
    <p:spTree>
      <p:nvGrpSpPr>
        <p:cNvPr id="1" name=""/>
        <p:cNvGrpSpPr/>
        <p:nvPr/>
      </p:nvGrpSpPr>
      <p:grpSpPr>
        <a:xfrm>
          <a:off x="0" y="0"/>
          <a:ext cx="0" cy="0"/>
          <a:chOff x="0" y="0"/>
          <a:chExt cx="0" cy="0"/>
        </a:xfrm>
      </p:grpSpPr>
      <p:sp>
        <p:nvSpPr>
          <p:cNvPr id="2" name="Text 0"/>
          <p:cNvSpPr/>
          <p:nvPr>
            <p:ph type="title"/>
          </p:nvPr>
        </p:nvSpPr>
        <p:spPr>
          <a:xfrm>
            <a:off x="812782" y="812781"/>
            <a:ext cx="10883336"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1D"/>
                </a:solidFill>
                <a:latin typeface="Inter" pitchFamily="34" charset="0"/>
                <a:ea typeface="Inter" pitchFamily="34" charset="-122"/>
                <a:cs typeface="Inter" pitchFamily="34" charset="-120"/>
              </a:rPr>
              <a:t>BUILT FOR JORDAN. DESIGNED TO GROW.</a:t>
            </a:r>
            <a:endParaRPr lang="en-US" sz="3200" dirty="0"/>
          </a:p>
        </p:txBody>
      </p:sp>
      <p:sp>
        <p:nvSpPr>
          <p:cNvPr id="3" name="Shape 1"/>
          <p:cNvSpPr/>
          <p:nvPr/>
        </p:nvSpPr>
        <p:spPr>
          <a:xfrm>
            <a:off x="815957" y="2098675"/>
            <a:ext cx="3244778" cy="2978150"/>
          </a:xfrm>
          <a:prstGeom prst="roundRect">
            <a:avLst>
              <a:gd name="adj" fmla="val 4158"/>
            </a:avLst>
          </a:prstGeom>
          <a:solidFill>
            <a:srgbClr val="FBFCFA"/>
          </a:solidFill>
          <a:ln w="6350">
            <a:solidFill>
              <a:srgbClr val="D5DED7"/>
            </a:solidFill>
            <a:prstDash val="solid"/>
          </a:ln>
        </p:spPr>
      </p:sp>
      <p:sp>
        <p:nvSpPr>
          <p:cNvPr id="4" name="Text 2"/>
          <p:cNvSpPr/>
          <p:nvPr/>
        </p:nvSpPr>
        <p:spPr>
          <a:xfrm>
            <a:off x="1072555" y="2355270"/>
            <a:ext cx="2813530"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3D2A"/>
                </a:solidFill>
                <a:latin typeface="Inter" pitchFamily="34" charset="0"/>
                <a:ea typeface="Inter" pitchFamily="34" charset="-122"/>
                <a:cs typeface="Inter" pitchFamily="34" charset="-120"/>
              </a:rPr>
              <a:t>IMPACT ON JORDAN</a:t>
            </a:r>
            <a:endParaRPr lang="en-US" sz="1600" dirty="0"/>
          </a:p>
        </p:txBody>
      </p:sp>
      <p:sp>
        <p:nvSpPr>
          <p:cNvPr id="5" name="Text 3"/>
          <p:cNvSpPr/>
          <p:nvPr/>
        </p:nvSpPr>
        <p:spPr>
          <a:xfrm>
            <a:off x="1080937" y="2726079"/>
            <a:ext cx="2799814" cy="1225045"/>
          </a:xfrm>
          <a:prstGeom prst="rect">
            <a:avLst/>
          </a:prstGeom>
          <a:noFill/>
          <a:ln/>
        </p:spPr>
        <p:txBody>
          <a:bodyPr wrap="square" lIns="0" tIns="0" rIns="0" bIns="0" rtlCol="0" anchor="t">
            <a:normAutofit/>
          </a:bodyPr>
          <a:lstStyle/>
          <a:p>
            <a:pPr algn="l" marL="169418" indent="-169418">
              <a:lnSpc>
                <a:spcPts val="1890"/>
              </a:lnSpc>
              <a:buSzPct val="100000"/>
              <a:buChar char="•"/>
            </a:pPr>
            <a:r>
              <a:rPr lang="en-US" sz="1400" dirty="0">
                <a:solidFill>
                  <a:srgbClr val="4E6358"/>
                </a:solidFill>
                <a:latin typeface="Inter" pitchFamily="34" charset="0"/>
                <a:ea typeface="Inter" pitchFamily="34" charset="-122"/>
                <a:cs typeface="Inter" pitchFamily="34" charset="-120"/>
              </a:rPr>
              <a:t>Help farm owners evaluate connected decisions.</a:t>
            </a:r>
            <a:endParaRPr lang="en-US" sz="1400" dirty="0"/>
          </a:p>
          <a:p>
            <a:pPr algn="l" marL="169418" indent="-169418">
              <a:lnSpc>
                <a:spcPts val="1890"/>
              </a:lnSpc>
              <a:buSzPct val="100000"/>
              <a:buChar char="•"/>
            </a:pPr>
            <a:r>
              <a:rPr lang="en-US" sz="1400" dirty="0">
                <a:solidFill>
                  <a:srgbClr val="4E6358"/>
                </a:solidFill>
                <a:latin typeface="Inter" pitchFamily="34" charset="0"/>
                <a:ea typeface="Inter" pitchFamily="34" charset="-122"/>
                <a:cs typeface="Inter" pitchFamily="34" charset="-120"/>
              </a:rPr>
              <a:t>Aim to support more informed resource allocation and business planning.</a:t>
            </a:r>
            <a:endParaRPr lang="en-US" sz="1400" dirty="0"/>
          </a:p>
        </p:txBody>
      </p:sp>
      <p:sp>
        <p:nvSpPr>
          <p:cNvPr id="6" name="Shape 4"/>
          <p:cNvSpPr/>
          <p:nvPr/>
        </p:nvSpPr>
        <p:spPr>
          <a:xfrm>
            <a:off x="4473521" y="2098675"/>
            <a:ext cx="3244778" cy="2978150"/>
          </a:xfrm>
          <a:prstGeom prst="roundRect">
            <a:avLst>
              <a:gd name="adj" fmla="val 4158"/>
            </a:avLst>
          </a:prstGeom>
          <a:solidFill>
            <a:srgbClr val="FBFCFA"/>
          </a:solidFill>
          <a:ln w="6350">
            <a:solidFill>
              <a:srgbClr val="D5DED7"/>
            </a:solidFill>
            <a:prstDash val="solid"/>
          </a:ln>
        </p:spPr>
      </p:sp>
      <p:sp>
        <p:nvSpPr>
          <p:cNvPr id="7" name="Text 5"/>
          <p:cNvSpPr/>
          <p:nvPr/>
        </p:nvSpPr>
        <p:spPr>
          <a:xfrm>
            <a:off x="4730118" y="2355270"/>
            <a:ext cx="2813530"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3D2A"/>
                </a:solidFill>
                <a:latin typeface="Inter" pitchFamily="34" charset="0"/>
                <a:ea typeface="Inter" pitchFamily="34" charset="-122"/>
                <a:cs typeface="Inter" pitchFamily="34" charset="-120"/>
              </a:rPr>
              <a:t>USER EXPERIENCE</a:t>
            </a:r>
            <a:endParaRPr lang="en-US" sz="1600" dirty="0"/>
          </a:p>
        </p:txBody>
      </p:sp>
      <p:sp>
        <p:nvSpPr>
          <p:cNvPr id="8" name="Text 6"/>
          <p:cNvSpPr/>
          <p:nvPr/>
        </p:nvSpPr>
        <p:spPr>
          <a:xfrm>
            <a:off x="4738500" y="2726079"/>
            <a:ext cx="2799814" cy="1464974"/>
          </a:xfrm>
          <a:prstGeom prst="rect">
            <a:avLst/>
          </a:prstGeom>
          <a:noFill/>
          <a:ln/>
        </p:spPr>
        <p:txBody>
          <a:bodyPr wrap="square" lIns="0" tIns="0" rIns="0" bIns="0" rtlCol="0" anchor="t">
            <a:normAutofit/>
          </a:bodyPr>
          <a:lstStyle/>
          <a:p>
            <a:pPr algn="l" marL="169418" indent="-169418">
              <a:lnSpc>
                <a:spcPts val="1890"/>
              </a:lnSpc>
              <a:buSzPct val="100000"/>
              <a:buChar char="•"/>
            </a:pPr>
            <a:r>
              <a:rPr lang="en-US" sz="1400" dirty="0">
                <a:solidFill>
                  <a:srgbClr val="4E6358"/>
                </a:solidFill>
                <a:latin typeface="Inter" pitchFamily="34" charset="0"/>
                <a:ea typeface="Inter" pitchFamily="34" charset="-122"/>
                <a:cs typeface="Inter" pitchFamily="34" charset="-120"/>
              </a:rPr>
              <a:t>Simple, intuitive, and accessible.</a:t>
            </a:r>
            <a:endParaRPr lang="en-US" sz="1400" dirty="0"/>
          </a:p>
          <a:p>
            <a:pPr algn="l" marL="169418" indent="-169418">
              <a:lnSpc>
                <a:spcPts val="1890"/>
              </a:lnSpc>
              <a:buSzPct val="100000"/>
              <a:buChar char="•"/>
            </a:pPr>
            <a:r>
              <a:rPr lang="en-US" sz="1400" dirty="0">
                <a:solidFill>
                  <a:srgbClr val="4E6358"/>
                </a:solidFill>
                <a:latin typeface="Inter" pitchFamily="34" charset="0"/>
                <a:ea typeface="Inter" pitchFamily="34" charset="-122"/>
                <a:cs typeface="Inter" pitchFamily="34" charset="-120"/>
              </a:rPr>
              <a:t>Arabic support where appropriate.</a:t>
            </a:r>
            <a:endParaRPr lang="en-US" sz="1400" dirty="0"/>
          </a:p>
          <a:p>
            <a:pPr algn="l" marL="169418" indent="-169418">
              <a:lnSpc>
                <a:spcPts val="1890"/>
              </a:lnSpc>
              <a:buSzPct val="100000"/>
              <a:buChar char="•"/>
            </a:pPr>
            <a:r>
              <a:rPr lang="en-US" sz="1400" dirty="0">
                <a:solidFill>
                  <a:srgbClr val="4E6358"/>
                </a:solidFill>
                <a:latin typeface="Inter" pitchFamily="34" charset="0"/>
                <a:ea typeface="Inter" pitchFamily="34" charset="-122"/>
                <a:cs typeface="Inter" pitchFamily="34" charset="-120"/>
              </a:rPr>
              <a:t>Clear recommendations with understandable assumptions.</a:t>
            </a:r>
            <a:endParaRPr lang="en-US" sz="1400" dirty="0"/>
          </a:p>
        </p:txBody>
      </p:sp>
      <p:sp>
        <p:nvSpPr>
          <p:cNvPr id="9" name="Shape 7"/>
          <p:cNvSpPr/>
          <p:nvPr/>
        </p:nvSpPr>
        <p:spPr>
          <a:xfrm>
            <a:off x="8131175" y="2098675"/>
            <a:ext cx="3244778" cy="2978150"/>
          </a:xfrm>
          <a:prstGeom prst="roundRect">
            <a:avLst>
              <a:gd name="adj" fmla="val 4158"/>
            </a:avLst>
          </a:prstGeom>
          <a:solidFill>
            <a:srgbClr val="FBFCFA"/>
          </a:solidFill>
          <a:ln w="6350">
            <a:solidFill>
              <a:srgbClr val="D5DED7"/>
            </a:solidFill>
            <a:prstDash val="solid"/>
          </a:ln>
        </p:spPr>
      </p:sp>
      <p:sp>
        <p:nvSpPr>
          <p:cNvPr id="10" name="Text 8"/>
          <p:cNvSpPr/>
          <p:nvPr/>
        </p:nvSpPr>
        <p:spPr>
          <a:xfrm>
            <a:off x="8387773" y="2355270"/>
            <a:ext cx="2813530" cy="51301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3D2A"/>
                </a:solidFill>
                <a:latin typeface="Inter" pitchFamily="34" charset="0"/>
                <a:ea typeface="Inter" pitchFamily="34" charset="-122"/>
                <a:cs typeface="Inter" pitchFamily="34" charset="-120"/>
              </a:rPr>
              <a:t>FEASIBILITY &amp; SCALABILITY</a:t>
            </a:r>
            <a:endParaRPr lang="en-US" sz="1600" dirty="0"/>
          </a:p>
        </p:txBody>
      </p:sp>
      <p:sp>
        <p:nvSpPr>
          <p:cNvPr id="11" name="Text 9"/>
          <p:cNvSpPr/>
          <p:nvPr/>
        </p:nvSpPr>
        <p:spPr>
          <a:xfrm>
            <a:off x="8396155" y="2969887"/>
            <a:ext cx="2799814" cy="1704903"/>
          </a:xfrm>
          <a:prstGeom prst="rect">
            <a:avLst/>
          </a:prstGeom>
          <a:noFill/>
          <a:ln/>
        </p:spPr>
        <p:txBody>
          <a:bodyPr wrap="square" lIns="0" tIns="0" rIns="0" bIns="0" rtlCol="0" anchor="t">
            <a:normAutofit/>
          </a:bodyPr>
          <a:lstStyle/>
          <a:p>
            <a:pPr algn="l" marL="169418" indent="-169418">
              <a:lnSpc>
                <a:spcPts val="1890"/>
              </a:lnSpc>
              <a:buSzPct val="100000"/>
              <a:buChar char="•"/>
            </a:pPr>
            <a:r>
              <a:rPr lang="en-US" sz="1400" dirty="0">
                <a:solidFill>
                  <a:srgbClr val="4E6358"/>
                </a:solidFill>
                <a:latin typeface="Inter" pitchFamily="34" charset="0"/>
                <a:ea typeface="Inter" pitchFamily="34" charset="-122"/>
                <a:cs typeface="Inter" pitchFamily="34" charset="-120"/>
              </a:rPr>
              <a:t>Validate agricultural data and crop assumptions.</a:t>
            </a:r>
            <a:endParaRPr lang="en-US" sz="1400" dirty="0"/>
          </a:p>
          <a:p>
            <a:pPr algn="l" marL="169418" indent="-169418">
              <a:lnSpc>
                <a:spcPts val="1890"/>
              </a:lnSpc>
              <a:buSzPct val="100000"/>
              <a:buChar char="•"/>
            </a:pPr>
            <a:r>
              <a:rPr lang="en-US" sz="1400" dirty="0">
                <a:solidFill>
                  <a:srgbClr val="4E6358"/>
                </a:solidFill>
                <a:latin typeface="Inter" pitchFamily="34" charset="0"/>
                <a:ea typeface="Inter" pitchFamily="34" charset="-122"/>
                <a:cs typeface="Inter" pitchFamily="34" charset="-120"/>
              </a:rPr>
              <a:t>Test with real farm owners.</a:t>
            </a:r>
            <a:endParaRPr lang="en-US" sz="1400" dirty="0"/>
          </a:p>
          <a:p>
            <a:pPr algn="l" marL="169418" indent="-169418">
              <a:lnSpc>
                <a:spcPts val="1890"/>
              </a:lnSpc>
              <a:buSzPct val="100000"/>
              <a:buChar char="•"/>
            </a:pPr>
            <a:r>
              <a:rPr lang="en-US" sz="1400" dirty="0">
                <a:solidFill>
                  <a:srgbClr val="4E6358"/>
                </a:solidFill>
                <a:latin typeface="Inter" pitchFamily="34" charset="0"/>
                <a:ea typeface="Inter" pitchFamily="34" charset="-122"/>
                <a:cs typeface="Inter" pitchFamily="34" charset="-120"/>
              </a:rPr>
              <a:t>Measure reliability and usefulness.</a:t>
            </a:r>
            <a:endParaRPr lang="en-US" sz="1400" dirty="0"/>
          </a:p>
          <a:p>
            <a:pPr algn="l" marL="169418" indent="-169418">
              <a:lnSpc>
                <a:spcPts val="1890"/>
              </a:lnSpc>
              <a:buSzPct val="100000"/>
              <a:buChar char="•"/>
            </a:pPr>
            <a:r>
              <a:rPr lang="en-US" sz="1400" dirty="0">
                <a:solidFill>
                  <a:srgbClr val="4E6358"/>
                </a:solidFill>
                <a:latin typeface="Inter" pitchFamily="34" charset="0"/>
                <a:ea typeface="Inter" pitchFamily="34" charset="-122"/>
                <a:cs typeface="Inter" pitchFamily="34" charset="-120"/>
              </a:rPr>
              <a:t>Expand based on validated results.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3D2A"/>
        </a:solidFill>
      </p:bgPr>
    </p:bg>
    <p:spTree>
      <p:nvGrpSpPr>
        <p:cNvPr id="1" name=""/>
        <p:cNvGrpSpPr/>
        <p:nvPr/>
      </p:nvGrpSpPr>
      <p:grpSpPr>
        <a:xfrm>
          <a:off x="0" y="0"/>
          <a:ext cx="0" cy="0"/>
          <a:chOff x="0" y="0"/>
          <a:chExt cx="0" cy="0"/>
        </a:xfrm>
      </p:grpSpPr>
      <p:sp>
        <p:nvSpPr>
          <p:cNvPr id="2" name="Text 0"/>
          <p:cNvSpPr/>
          <p:nvPr>
            <p:ph type="title"/>
          </p:nvPr>
        </p:nvSpPr>
        <p:spPr>
          <a:xfrm>
            <a:off x="812782" y="812781"/>
            <a:ext cx="10883336"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AF3EE"/>
                </a:solidFill>
                <a:latin typeface="Inter" pitchFamily="34" charset="0"/>
                <a:ea typeface="Inter" pitchFamily="34" charset="-122"/>
                <a:cs typeface="Inter" pitchFamily="34" charset="-120"/>
              </a:rPr>
              <a:t>NEXT STEPS.</a:t>
            </a:r>
            <a:endParaRPr lang="en-US" sz="3200" dirty="0"/>
          </a:p>
        </p:txBody>
      </p:sp>
      <p:sp>
        <p:nvSpPr>
          <p:cNvPr id="3" name="Shape 1"/>
          <p:cNvSpPr/>
          <p:nvPr/>
        </p:nvSpPr>
        <p:spPr>
          <a:xfrm>
            <a:off x="812782" y="2095500"/>
            <a:ext cx="3251128" cy="2413000"/>
          </a:xfrm>
          <a:prstGeom prst="roundRect">
            <a:avLst>
              <a:gd name="adj" fmla="val 5263"/>
            </a:avLst>
          </a:prstGeom>
          <a:solidFill>
            <a:srgbClr val="12513A"/>
          </a:solidFill>
          <a:ln/>
        </p:spPr>
      </p:sp>
      <p:sp>
        <p:nvSpPr>
          <p:cNvPr id="4" name="Text 2"/>
          <p:cNvSpPr/>
          <p:nvPr/>
        </p:nvSpPr>
        <p:spPr>
          <a:xfrm>
            <a:off x="1066782" y="2349500"/>
            <a:ext cx="2825422"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FD6B0"/>
                </a:solidFill>
                <a:latin typeface="Inter" pitchFamily="34" charset="0"/>
                <a:ea typeface="Inter" pitchFamily="34" charset="-122"/>
                <a:cs typeface="Inter" pitchFamily="34" charset="-120"/>
              </a:rPr>
              <a:t>MORE DATA</a:t>
            </a:r>
            <a:endParaRPr lang="en-US" sz="1600" dirty="0"/>
          </a:p>
        </p:txBody>
      </p:sp>
      <p:sp>
        <p:nvSpPr>
          <p:cNvPr id="5" name="Text 3"/>
          <p:cNvSpPr/>
          <p:nvPr/>
        </p:nvSpPr>
        <p:spPr>
          <a:xfrm>
            <a:off x="1066782" y="2720305"/>
            <a:ext cx="2825422" cy="50525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AF3EE"/>
                </a:solidFill>
                <a:latin typeface="Inter" pitchFamily="34" charset="0"/>
                <a:ea typeface="Inter" pitchFamily="34" charset="-122"/>
                <a:cs typeface="Inter" pitchFamily="34" charset="-120"/>
              </a:rPr>
              <a:t>Add verified crop, water, and market data.</a:t>
            </a:r>
            <a:endParaRPr lang="en-US" sz="1400" dirty="0"/>
          </a:p>
        </p:txBody>
      </p:sp>
      <p:pic>
        <p:nvPicPr>
          <p:cNvPr id="6" name="Image 0" descr="arrow-right">    </p:cNvPr>
          <p:cNvPicPr>
            <a:picLocks noChangeAspect="1"/>
          </p:cNvPicPr>
          <p:nvPr/>
        </p:nvPicPr>
        <p:blipFill>
          <a:blip r:embed="rId1"/>
          <a:srcRect l="-5" r="-5" t="0" b="0"/>
          <a:stretch/>
        </p:blipFill>
        <p:spPr>
          <a:xfrm>
            <a:off x="4114782" y="3175000"/>
            <a:ext cx="304782" cy="228564"/>
          </a:xfrm>
          <a:prstGeom prst="rect">
            <a:avLst/>
          </a:prstGeom>
        </p:spPr>
      </p:pic>
      <p:sp>
        <p:nvSpPr>
          <p:cNvPr id="7" name="Shape 4"/>
          <p:cNvSpPr/>
          <p:nvPr/>
        </p:nvSpPr>
        <p:spPr>
          <a:xfrm>
            <a:off x="4470346" y="2095500"/>
            <a:ext cx="3251128" cy="2413000"/>
          </a:xfrm>
          <a:prstGeom prst="roundRect">
            <a:avLst>
              <a:gd name="adj" fmla="val 5263"/>
            </a:avLst>
          </a:prstGeom>
          <a:solidFill>
            <a:srgbClr val="12513A"/>
          </a:solidFill>
          <a:ln/>
        </p:spPr>
      </p:sp>
      <p:sp>
        <p:nvSpPr>
          <p:cNvPr id="8" name="Text 5"/>
          <p:cNvSpPr/>
          <p:nvPr/>
        </p:nvSpPr>
        <p:spPr>
          <a:xfrm>
            <a:off x="4724346" y="2349500"/>
            <a:ext cx="2825422"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FD6B0"/>
                </a:solidFill>
                <a:latin typeface="Inter" pitchFamily="34" charset="0"/>
                <a:ea typeface="Inter" pitchFamily="34" charset="-122"/>
                <a:cs typeface="Inter" pitchFamily="34" charset="-120"/>
              </a:rPr>
              <a:t>WATER ENGINEERING</a:t>
            </a:r>
            <a:endParaRPr lang="en-US" sz="1600" dirty="0"/>
          </a:p>
        </p:txBody>
      </p:sp>
      <p:sp>
        <p:nvSpPr>
          <p:cNvPr id="9" name="Text 6"/>
          <p:cNvSpPr/>
          <p:nvPr/>
        </p:nvSpPr>
        <p:spPr>
          <a:xfrm>
            <a:off x="4724346" y="2720305"/>
            <a:ext cx="2825422" cy="50525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AF3EE"/>
                </a:solidFill>
                <a:latin typeface="Inter" pitchFamily="34" charset="0"/>
                <a:ea typeface="Inter" pitchFamily="34" charset="-122"/>
                <a:cs typeface="Inter" pitchFamily="34" charset="-120"/>
              </a:rPr>
              <a:t>Add deeper water and irrigation modeling.</a:t>
            </a:r>
            <a:endParaRPr lang="en-US" sz="1400" dirty="0"/>
          </a:p>
        </p:txBody>
      </p:sp>
      <p:pic>
        <p:nvPicPr>
          <p:cNvPr id="10" name="Image 1" descr="arrow-right">    </p:cNvPr>
          <p:cNvPicPr>
            <a:picLocks noChangeAspect="1"/>
          </p:cNvPicPr>
          <p:nvPr/>
        </p:nvPicPr>
        <p:blipFill>
          <a:blip r:embed="rId2"/>
          <a:srcRect l="-5" r="-5" t="0" b="0"/>
          <a:stretch/>
        </p:blipFill>
        <p:spPr>
          <a:xfrm>
            <a:off x="7772346" y="3175000"/>
            <a:ext cx="304782" cy="228564"/>
          </a:xfrm>
          <a:prstGeom prst="rect">
            <a:avLst/>
          </a:prstGeom>
        </p:spPr>
      </p:pic>
      <p:sp>
        <p:nvSpPr>
          <p:cNvPr id="11" name="Shape 7"/>
          <p:cNvSpPr/>
          <p:nvPr/>
        </p:nvSpPr>
        <p:spPr>
          <a:xfrm>
            <a:off x="8128000" y="2095500"/>
            <a:ext cx="3251128" cy="2413000"/>
          </a:xfrm>
          <a:prstGeom prst="roundRect">
            <a:avLst>
              <a:gd name="adj" fmla="val 5263"/>
            </a:avLst>
          </a:prstGeom>
          <a:solidFill>
            <a:srgbClr val="12513A"/>
          </a:solidFill>
          <a:ln/>
        </p:spPr>
      </p:sp>
      <p:sp>
        <p:nvSpPr>
          <p:cNvPr id="12" name="Text 8"/>
          <p:cNvSpPr/>
          <p:nvPr/>
        </p:nvSpPr>
        <p:spPr>
          <a:xfrm>
            <a:off x="8382000" y="2349500"/>
            <a:ext cx="2825422"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FD6B0"/>
                </a:solidFill>
                <a:latin typeface="Inter" pitchFamily="34" charset="0"/>
                <a:ea typeface="Inter" pitchFamily="34" charset="-122"/>
                <a:cs typeface="Inter" pitchFamily="34" charset="-120"/>
              </a:rPr>
              <a:t>DRONE DATA</a:t>
            </a:r>
            <a:endParaRPr lang="en-US" sz="1600" dirty="0"/>
          </a:p>
        </p:txBody>
      </p:sp>
      <p:sp>
        <p:nvSpPr>
          <p:cNvPr id="13" name="Text 9"/>
          <p:cNvSpPr/>
          <p:nvPr/>
        </p:nvSpPr>
        <p:spPr>
          <a:xfrm>
            <a:off x="8382000" y="2720305"/>
            <a:ext cx="2825422" cy="50525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AF3EE"/>
                </a:solidFill>
                <a:latin typeface="Inter" pitchFamily="34" charset="0"/>
                <a:ea typeface="Inter" pitchFamily="34" charset="-122"/>
                <a:cs typeface="Inter" pitchFamily="34" charset="-120"/>
              </a:rPr>
              <a:t>Explore drone-collected field data as a future input.</a:t>
            </a:r>
            <a:endParaRPr lang="en-US" sz="1400" dirty="0"/>
          </a:p>
        </p:txBody>
      </p:sp>
      <p:sp>
        <p:nvSpPr>
          <p:cNvPr id="14" name="Text 10"/>
          <p:cNvSpPr/>
          <p:nvPr/>
        </p:nvSpPr>
        <p:spPr>
          <a:xfrm>
            <a:off x="812782" y="5016500"/>
            <a:ext cx="10883336" cy="345335"/>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7FD6B0"/>
                </a:solidFill>
                <a:latin typeface="Inter" pitchFamily="34" charset="0"/>
                <a:ea typeface="Inter" pitchFamily="34" charset="-122"/>
                <a:cs typeface="Inter" pitchFamily="34" charset="-120"/>
              </a:rPr>
              <a:t>Planned future work, not part of the current prototype.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3D2A"/>
        </a:solidFill>
      </p:bgPr>
    </p:bg>
    <p:spTree>
      <p:nvGrpSpPr>
        <p:cNvPr id="1" name=""/>
        <p:cNvGrpSpPr/>
        <p:nvPr/>
      </p:nvGrpSpPr>
      <p:grpSpPr>
        <a:xfrm>
          <a:off x="0" y="0"/>
          <a:ext cx="0" cy="0"/>
          <a:chOff x="0" y="0"/>
          <a:chExt cx="0" cy="0"/>
        </a:xfrm>
      </p:grpSpPr>
      <p:pic>
        <p:nvPicPr>
          <p:cNvPr id="2" name="Image 0" descr="line">    </p:cNvPr>
          <p:cNvPicPr>
            <a:picLocks noChangeAspect="1"/>
          </p:cNvPicPr>
          <p:nvPr/>
        </p:nvPicPr>
        <p:blipFill>
          <a:blip r:embed="rId1"/>
          <a:srcRect l="-285" r="-285" t="0" b="0"/>
          <a:stretch/>
        </p:blipFill>
        <p:spPr>
          <a:xfrm>
            <a:off x="812782" y="1905000"/>
            <a:ext cx="10566346" cy="12628"/>
          </a:xfrm>
          <a:prstGeom prst="rect">
            <a:avLst/>
          </a:prstGeom>
        </p:spPr>
      </p:pic>
      <p:pic>
        <p:nvPicPr>
          <p:cNvPr id="3" name="Image 1" descr="line">    </p:cNvPr>
          <p:cNvPicPr>
            <a:picLocks noChangeAspect="1"/>
          </p:cNvPicPr>
          <p:nvPr/>
        </p:nvPicPr>
        <p:blipFill>
          <a:blip r:embed="rId2"/>
          <a:srcRect l="-285" r="-285" t="0" b="0"/>
          <a:stretch/>
        </p:blipFill>
        <p:spPr>
          <a:xfrm>
            <a:off x="812782" y="4952997"/>
            <a:ext cx="10566346" cy="12628"/>
          </a:xfrm>
          <a:prstGeom prst="rect">
            <a:avLst/>
          </a:prstGeom>
        </p:spPr>
      </p:pic>
      <p:pic>
        <p:nvPicPr>
          <p:cNvPr id="4" name="Image 2" descr="rect">    </p:cNvPr>
          <p:cNvPicPr>
            <a:picLocks noChangeAspect="1"/>
          </p:cNvPicPr>
          <p:nvPr/>
        </p:nvPicPr>
        <p:blipFill>
          <a:blip r:embed="rId3"/>
          <a:srcRect l="-47" r="-47" t="0" b="0"/>
          <a:stretch/>
        </p:blipFill>
        <p:spPr>
          <a:xfrm>
            <a:off x="812782" y="1905000"/>
            <a:ext cx="1270000" cy="76128"/>
          </a:xfrm>
          <a:prstGeom prst="rect">
            <a:avLst/>
          </a:prstGeom>
        </p:spPr>
      </p:pic>
      <p:pic>
        <p:nvPicPr>
          <p:cNvPr id="5" name="Image 3" descr="rect">    </p:cNvPr>
          <p:cNvPicPr>
            <a:picLocks noChangeAspect="1"/>
          </p:cNvPicPr>
          <p:nvPr/>
        </p:nvPicPr>
        <p:blipFill>
          <a:blip r:embed="rId4"/>
          <a:srcRect l="-47" r="-47" t="0" b="0"/>
          <a:stretch/>
        </p:blipFill>
        <p:spPr>
          <a:xfrm>
            <a:off x="10109127" y="4889497"/>
            <a:ext cx="1270000" cy="76128"/>
          </a:xfrm>
          <a:prstGeom prst="rect">
            <a:avLst/>
          </a:prstGeom>
        </p:spPr>
      </p:pic>
      <p:sp>
        <p:nvSpPr>
          <p:cNvPr id="6" name="Text 0"/>
          <p:cNvSpPr/>
          <p:nvPr>
            <p:ph type="title"/>
          </p:nvPr>
        </p:nvSpPr>
        <p:spPr>
          <a:xfrm>
            <a:off x="1552034" y="2793997"/>
            <a:ext cx="9087932" cy="1295400"/>
          </a:xfrm>
          <a:prstGeom prst="rect">
            <a:avLst/>
          </a:prstGeom>
          <a:noFill/>
          <a:ln/>
        </p:spPr>
        <p:txBody>
          <a:bodyPr wrap="square" lIns="0" tIns="0" rIns="0" bIns="0" rtlCol="0" anchor="t">
            <a:normAutofit/>
          </a:bodyPr>
          <a:lstStyle/>
          <a:p>
            <a:pPr algn="ctr" indent="0" marL="0">
              <a:lnSpc>
                <a:spcPts val="10000"/>
              </a:lnSpc>
              <a:buNone/>
            </a:pPr>
            <a:r>
              <a:rPr lang="en-US" sz="10000" b="1" i="0" spc="200" kern="0" dirty="0">
                <a:solidFill>
                  <a:srgbClr val="EAF3EE"/>
                </a:solidFill>
                <a:latin typeface="Inter" pitchFamily="34" charset="0"/>
                <a:ea typeface="Inter" pitchFamily="34" charset="-122"/>
                <a:cs typeface="Inter" pitchFamily="34" charset="-120"/>
              </a:rPr>
              <a:t>DEMO TIME</a:t>
            </a:r>
            <a:endParaRPr lang="en-US" sz="10000" dirty="0"/>
          </a:p>
        </p:txBody>
      </p:sp>
      <p:pic>
        <p:nvPicPr>
          <p:cNvPr id="7" name="Image 4" descr="مزارع JO logo">    </p:cNvPr>
          <p:cNvPicPr>
            <a:picLocks noChangeAspect="1"/>
          </p:cNvPicPr>
          <p:nvPr/>
        </p:nvPicPr>
        <p:blipFill>
          <a:blip r:embed="rId5"/>
          <a:srcRect l="-4998" r="-4998" t="0" b="0"/>
          <a:stretch/>
        </p:blipFill>
        <p:spPr>
          <a:xfrm>
            <a:off x="10820436" y="5943653"/>
            <a:ext cx="558782" cy="508000"/>
          </a:xfrm>
          <a:prstGeom prst="rect">
            <a:avLst/>
          </a:prstGeom>
        </p:spPr>
      </p:pic>
    </p:spTree>
  </p:cSld>
  <p:clrMapOvr>
    <a:masterClrMapping/>
  </p:clrMapOvr>
</p:sld>
</file>

<file path=ppt/theme/theme1.xml><?xml version="1.0" encoding="utf-8"?>
<a:theme xmlns:a="http://schemas.openxmlformats.org/drawingml/2006/main" name="مزارع JO — AI Quest Pitch">
  <a:themeElements>
    <a:clrScheme name="مزارع JO — AI Quest Pitch">
      <a:dk1>
        <a:srgbClr val="12261D"/>
      </a:dk1>
      <a:lt1>
        <a:srgbClr val="F4F6F1"/>
      </a:lt1>
      <a:dk2>
        <a:srgbClr val="4B5A52"/>
      </a:dk2>
      <a:lt2>
        <a:srgbClr val="DDE1DC"/>
      </a:lt2>
      <a:accent1>
        <a:srgbClr val="7FD6B0"/>
      </a:accent1>
      <a:accent2>
        <a:srgbClr val="12513A"/>
      </a:accent2>
      <a:accent3>
        <a:srgbClr val="4E6358"/>
      </a:accent3>
      <a:accent4>
        <a:srgbClr val="9AA0A6"/>
      </a:accent4>
      <a:accent5>
        <a:srgbClr val="6C7972"/>
      </a:accent5>
      <a:accent6>
        <a:srgbClr val="8E9892"/>
      </a:accent6>
      <a:hlink>
        <a:srgbClr val="0563C1"/>
      </a:hlink>
      <a:folHlink>
        <a:srgbClr val="954F72"/>
      </a:folHlink>
    </a:clrScheme>
    <a:fontScheme name="مزارع JO — AI Quest Pitch">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مزارع JO — AI Quest Pitch</dc:title>
  <dc:subject/>
  <dc:creator/>
  <cp:lastModifiedBy/>
  <cp:revision>1</cp:revision>
  <dcterms:created xsi:type="dcterms:W3CDTF">2026-10-10T09:43:31Z</dcterms:created>
  <dcterms:modified xsi:type="dcterms:W3CDTF">2026-10-10T09:43:31Z</dcterms:modified>
</cp:coreProperties>
</file>